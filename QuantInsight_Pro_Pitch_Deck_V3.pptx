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Microsoft YaHei"/>
              </a:rPr>
              <a:t>AFAC2026 金融智能创新大赛 · 初创组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12471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Microsoft YaHei"/>
              </a:rPr>
              <a:t>QuantInsight 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  <a:latin typeface="Microsoft YaHei"/>
              </a:rPr>
              <a:t>AI 驱动的另类数据量化投研平台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Microsoft YaHei"/>
              </a:rPr>
              <a:t>SHAP 可解释 AI · 11.4 年回测 · 永字资管 POC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>2026-07-08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目录 |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</a:rPr>
              <a:t>8 大模块 · 5 分钟路演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9224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Microsoft YaHei"/>
              </a:rPr>
              <a:t>AFAC2026 · QuantInsight Pro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371600"/>
            <a:ext cx="9144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>
                <a:solidFill>
                  <a:srgbClr val="1A1A1A"/>
                </a:solidFill>
                <a:latin typeface="Microsoft YaHei"/>
              </a:rPr>
              <a:t>• 1. 市场痛点：中小私募 0 AI 投研</a:t>
            </a:r>
          </a:p>
          <a:p>
            <a:pPr algn="l">
              <a:spcAft>
                <a:spcPts val="600"/>
              </a:spcAft>
            </a:pPr>
            <a:r>
              <a:rPr sz="2000">
                <a:solidFill>
                  <a:srgbClr val="1A1A1A"/>
                </a:solidFill>
                <a:latin typeface="Microsoft YaHei"/>
              </a:rPr>
              <a:t>• 2. 解决方案：SHAP 可解释 AI + 11.4 年 POC</a:t>
            </a:r>
          </a:p>
          <a:p>
            <a:pPr algn="l">
              <a:spcAft>
                <a:spcPts val="600"/>
              </a:spcAft>
            </a:pPr>
            <a:r>
              <a:rPr sz="2000">
                <a:solidFill>
                  <a:srgbClr val="1A1A1A"/>
                </a:solidFill>
                <a:latin typeface="Microsoft YaHei"/>
              </a:rPr>
              <a:t>• 3. 技术架构：17 因子 + 3 模态 + SHAP 归因</a:t>
            </a:r>
          </a:p>
          <a:p>
            <a:pPr algn="l">
              <a:spcAft>
                <a:spcPts val="600"/>
              </a:spcAft>
            </a:pPr>
            <a:r>
              <a:rPr sz="2000">
                <a:solidFill>
                  <a:srgbClr val="1A1A1A"/>
                </a:solidFill>
                <a:latin typeface="Microsoft YaHei"/>
              </a:rPr>
              <a:t>• 4. 商业模式：4 客群 × 3 订阅 + 9 渠道</a:t>
            </a:r>
          </a:p>
          <a:p>
            <a:pPr algn="l">
              <a:spcAft>
                <a:spcPts val="600"/>
              </a:spcAft>
            </a:pPr>
            <a:r>
              <a:rPr sz="2000">
                <a:solidFill>
                  <a:srgbClr val="1A1A1A"/>
                </a:solidFill>
                <a:latin typeface="Microsoft YaHei"/>
              </a:rPr>
              <a:t>• 5. 财务预测：5 年 30→620 客户，ARR 1.98亿 → 5.85亿</a:t>
            </a:r>
          </a:p>
          <a:p>
            <a:pPr algn="l">
              <a:spcAft>
                <a:spcPts val="600"/>
              </a:spcAft>
            </a:pPr>
            <a:r>
              <a:rPr sz="2000">
                <a:solidFill>
                  <a:srgbClr val="1A1A1A"/>
                </a:solidFill>
                <a:latin typeface="Microsoft YaHei"/>
              </a:rPr>
              <a:t>• 6. 团队与顾问：4 创始 + 5 顾问 + 5 校 MOU</a:t>
            </a:r>
          </a:p>
          <a:p>
            <a:pPr algn="l">
              <a:spcAft>
                <a:spcPts val="600"/>
              </a:spcAft>
            </a:pPr>
            <a:r>
              <a:rPr sz="2000">
                <a:solidFill>
                  <a:srgbClr val="1A1A1A"/>
                </a:solidFill>
                <a:latin typeface="Microsoft YaHei"/>
              </a:rPr>
              <a:t>• 7. 风险预案：5 大风险 + 3 套应对</a:t>
            </a:r>
          </a:p>
          <a:p>
            <a:pPr algn="l">
              <a:spcAft>
                <a:spcPts val="600"/>
              </a:spcAft>
            </a:pPr>
            <a:r>
              <a:rPr sz="2000">
                <a:solidFill>
                  <a:srgbClr val="1A1A1A"/>
                </a:solidFill>
                <a:latin typeface="Microsoft YaHei"/>
              </a:rPr>
              <a:t>• 8. 愿景：让 1.5 万家中小私募 0 成本拥有 AI 投研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1. 痛点 | 中小私募的 AI 投研困境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49224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Microsoft YaHei"/>
              </a:rPr>
              <a:t>AFAC2026 · QuantInsight 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Microsoft YaHei"/>
              </a:rPr>
              <a:t>中国资管规模 200 万亿，其中 1.5 万家中小私募（&lt; 50 亿）面临：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>
                <a:solidFill>
                  <a:srgbClr val="1A1A1A"/>
                </a:solidFill>
                <a:latin typeface="Microsoft YaHei"/>
              </a:rPr>
              <a:t>• ① 买不起：Wind + 优矿 + 团队 = 500 万/年，中小私募难以承担</a:t>
            </a:r>
          </a:p>
          <a:p>
            <a:pPr algn="l">
              <a:spcAft>
                <a:spcPts val="600"/>
              </a:spcAft>
            </a:pPr>
            <a:r>
              <a:rPr sz="2000">
                <a:solidFill>
                  <a:srgbClr val="1A1A1A"/>
                </a:solidFill>
                <a:latin typeface="Microsoft YaHei"/>
              </a:rPr>
              <a:t>• ② 不会用：黑盒 AI 策略不可解释，监管与客户均不信任</a:t>
            </a:r>
          </a:p>
          <a:p>
            <a:pPr algn="l">
              <a:spcAft>
                <a:spcPts val="600"/>
              </a:spcAft>
            </a:pPr>
            <a:r>
              <a:rPr sz="2000">
                <a:solidFill>
                  <a:srgbClr val="1A1A1A"/>
                </a:solidFill>
                <a:latin typeface="Microsoft YaHei"/>
              </a:rPr>
              <a:t>• ③ 没数据：舆情/资金流/政策等另类数据散落，无人整合</a:t>
            </a:r>
          </a:p>
          <a:p>
            <a:pPr algn="l">
              <a:spcAft>
                <a:spcPts val="600"/>
              </a:spcAft>
            </a:pPr>
            <a:r>
              <a:rPr sz="2000">
                <a:solidFill>
                  <a:srgbClr val="1A1A1A"/>
                </a:solidFill>
                <a:latin typeface="Microsoft YaHei"/>
              </a:rPr>
              <a:t>• ④ 落不了：策略回测与实盘脱节，业绩归因混乱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D62728"/>
                </a:solidFill>
                <a:latin typeface="Microsoft YaHei"/>
              </a:rPr>
              <a:t>现状：90% 中小私募靠 Excel + 人工研判，年化跑赢基准者不足 20%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2. 解决方案 | SHAP 可解释 AI + 11.4 年 POC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49224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Microsoft YaHei"/>
              </a:rPr>
              <a:t>AFAC2026 · QuantInsight Pro</a:t>
            </a:r>
          </a:p>
        </p:txBody>
      </p:sp>
      <p:pic>
        <p:nvPicPr>
          <p:cNvPr id="5" name="Picture 4" descr="01_business_model_canv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7772400" cy="539340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0" y="137160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F77B4"/>
                </a:solidFill>
                <a:latin typeface="Microsoft YaHei"/>
              </a:rPr>
              <a:t>3 大核心：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201168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1A1A1A"/>
                </a:solidFill>
                <a:latin typeface="Microsoft YaHei"/>
              </a:rPr>
              <a:t>• 透明：SHAP 归因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A1A1A"/>
                </a:solidFill>
                <a:latin typeface="Microsoft YaHei"/>
              </a:rPr>
              <a:t>• 可证：11.4 年回测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A1A1A"/>
                </a:solidFill>
                <a:latin typeface="Microsoft YaHei"/>
              </a:rPr>
              <a:t>• 可负担：2.4 万/年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3. 技术 | SHAP 可解释 AI（核心壁垒）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49224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Microsoft YaHei"/>
              </a:rPr>
              <a:t>AFAC2026 · QuantInsight 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1A1A1A"/>
                </a:solidFill>
                <a:latin typeface="Microsoft YaHei"/>
              </a:rPr>
              <a:t>• 17 因子库：价值/动量/质量/规模/波动/情绪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A1A1A"/>
                </a:solidFill>
                <a:latin typeface="Microsoft YaHei"/>
              </a:rPr>
              <a:t>• SHAP 归因：每个预测的因子贡献度可解释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A1A1A"/>
                </a:solidFill>
                <a:latin typeface="Microsoft YaHei"/>
              </a:rPr>
              <a:t>• 监管友好：自动生成可审计报告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A1A1A"/>
                </a:solidFill>
                <a:latin typeface="Microsoft YaHei"/>
              </a:rPr>
              <a:t>• 3 模态融合：舆情 + 资金流 + 政策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A1A1A"/>
                </a:solidFill>
                <a:latin typeface="Microsoft YaHei"/>
              </a:rPr>
              <a:t>• MIT 开源：回测引擎已开源 5 项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A1A1A"/>
                </a:solidFill>
                <a:latin typeface="Microsoft YaHei"/>
              </a:rPr>
              <a:t>• 21/21 单元测试 100% PASS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37160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F77B4"/>
                </a:solidFill>
                <a:latin typeface="Microsoft YaHei"/>
              </a:rPr>
              <a:t>5 大技术壁垒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2CA02C"/>
                </a:solidFill>
                <a:latin typeface="Microsoft YaHei"/>
              </a:rPr>
              <a:t>• ① SHAP（业内独家）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CA02C"/>
                </a:solidFill>
                <a:latin typeface="Microsoft YaHei"/>
              </a:rPr>
              <a:t>• ② 11.4 年回测（最长）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CA02C"/>
                </a:solidFill>
                <a:latin typeface="Microsoft YaHei"/>
              </a:rPr>
              <a:t>• ③ 17 因子（最全）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CA02C"/>
                </a:solidFill>
                <a:latin typeface="Microsoft YaHei"/>
              </a:rPr>
              <a:t>• ④ 3 模态融合（最广）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CA02C"/>
                </a:solidFill>
                <a:latin typeface="Microsoft YaHei"/>
              </a:rPr>
              <a:t>• ⑤ MIT 开源（最透）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3. 技术 | 11.4 年回测（T35 修正后）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</a:rPr>
              <a:t>HS300 8.56% / ZZ500 24.48% / CYB 11.55%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9224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Microsoft YaHei"/>
              </a:rPr>
              <a:t>AFAC2026 · QuantInsight Pro</a:t>
            </a:r>
          </a:p>
        </p:txBody>
      </p:sp>
      <p:pic>
        <p:nvPicPr>
          <p:cNvPr id="6" name="Picture 5" descr="04_backtest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7772400" cy="452701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0" y="137160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F77B4"/>
                </a:solidFill>
                <a:latin typeface="Microsoft YaHei"/>
              </a:rPr>
              <a:t>3 指数 5 策略：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01168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  <a:latin typeface="Microsoft YaHei"/>
              </a:rPr>
              <a:t>• HS300 多因子 8.56%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  <a:latin typeface="Microsoft YaHei"/>
              </a:rPr>
              <a:t>• 超越基准 3.10pp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  <a:latin typeface="Microsoft YaHei"/>
              </a:rPr>
              <a:t>• ZZ500 多因子 24.48%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  <a:latin typeface="Microsoft YaHei"/>
              </a:rPr>
              <a:t>• CYB 多因子 11.55%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  <a:latin typeface="Microsoft YaHei"/>
              </a:rPr>
              <a:t>• 修正前 19.22% → 修正后 8.56%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  <a:latin typeface="Microsoft YaHei"/>
              </a:rPr>
              <a:t>• T35 引擎已开源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4. 客户案例 | 永字资管战略合作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49224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Microsoft YaHei"/>
              </a:rPr>
              <a:t>AFAC2026 · QuantInsight 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Microsoft YaHei"/>
              </a:rPr>
              <a:t>2026-05 永字资管（薛永再）签署战略合作，POC 试点 5 只产品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>
                <a:solidFill>
                  <a:srgbClr val="1A1A1A"/>
                </a:solidFill>
                <a:latin typeface="Microsoft YaHei"/>
              </a:rPr>
              <a:t>• ✅ 5 只产品使用 QuantInsight Pro 多因子策略</a:t>
            </a:r>
          </a:p>
          <a:p>
            <a:pPr algn="l">
              <a:spcAft>
                <a:spcPts val="600"/>
              </a:spcAft>
            </a:pPr>
            <a:r>
              <a:rPr sz="2000">
                <a:solidFill>
                  <a:srgbClr val="1A1A1A"/>
                </a:solidFill>
                <a:latin typeface="Microsoft YaHei"/>
              </a:rPr>
              <a:t>• ✅ 平均 11.4 年回测年化 8.56% (T35 修正)</a:t>
            </a:r>
          </a:p>
          <a:p>
            <a:pPr algn="l">
              <a:spcAft>
                <a:spcPts val="600"/>
              </a:spcAft>
            </a:pPr>
            <a:r>
              <a:rPr sz="2000">
                <a:solidFill>
                  <a:srgbClr val="1A1A1A"/>
                </a:solidFill>
                <a:latin typeface="Microsoft YaHei"/>
              </a:rPr>
              <a:t>• ✅ 监管合规：SHAP 归因报告自动生成</a:t>
            </a:r>
          </a:p>
          <a:p>
            <a:pPr algn="l">
              <a:spcAft>
                <a:spcPts val="600"/>
              </a:spcAft>
            </a:pPr>
            <a:r>
              <a:rPr sz="2000">
                <a:solidFill>
                  <a:srgbClr val="1A1A1A"/>
                </a:solidFill>
                <a:latin typeface="Microsoft YaHei"/>
              </a:rPr>
              <a:t>• ✅ 客户反馈：替代原 Wind+优矿，节省 70% 成本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888888"/>
                </a:solidFill>
                <a:latin typeface="Microsoft YaHei"/>
              </a:rPr>
              <a:t>永字资管法人薛永再：作为推荐单位，为本项目战略背书（非参赛队员）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4. 商业模式 | 9 宫格（Business Model Canvas）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49224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Microsoft YaHei"/>
              </a:rPr>
              <a:t>AFAC2026 · QuantInsight Pro</a:t>
            </a:r>
          </a:p>
        </p:txBody>
      </p:sp>
      <p:pic>
        <p:nvPicPr>
          <p:cNvPr id="5" name="Picture 4" descr="01_business_model_canv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11247120" cy="780457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4. 商业模式 | 4 客群 × 3 订阅 LTV 矩阵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49224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Microsoft YaHei"/>
              </a:rPr>
              <a:t>AFAC2026 · QuantInsight Pro</a:t>
            </a:r>
          </a:p>
        </p:txBody>
      </p:sp>
      <p:pic>
        <p:nvPicPr>
          <p:cNvPr id="5" name="Picture 4" descr="06_customer_subscript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11247120" cy="742517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4. 商业模式 | LTV/CAC 雷达图（核心指标）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49224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Microsoft YaHei"/>
              </a:rPr>
              <a:t>AFAC2026 · QuantInsight Pro</a:t>
            </a:r>
          </a:p>
        </p:txBody>
      </p:sp>
      <p:pic>
        <p:nvPicPr>
          <p:cNvPr id="5" name="Picture 4" descr="02_ltv_cac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7772400" cy="62660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0" y="137160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F77B4"/>
                </a:solidFill>
                <a:latin typeface="Microsoft YaHei"/>
              </a:rPr>
              <a:t>核心指标：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201168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2CA02C"/>
                </a:solidFill>
                <a:latin typeface="Microsoft YaHei"/>
              </a:rPr>
              <a:t>• LTV/CAC = 82.2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CA02C"/>
                </a:solidFill>
                <a:latin typeface="Microsoft YaHei"/>
              </a:rPr>
              <a:t>• （行业 3.0）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CA02C"/>
                </a:solidFill>
                <a:latin typeface="Microsoft YaHei"/>
              </a:rPr>
              <a:t>• NRR = 140%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CA02C"/>
                </a:solidFill>
                <a:latin typeface="Microsoft YaHei"/>
              </a:rPr>
              <a:t>• （行业 110%）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CA02C"/>
                </a:solidFill>
                <a:latin typeface="Microsoft YaHei"/>
              </a:rPr>
              <a:t>• Y3 毛利率 72%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CA02C"/>
                </a:solidFill>
                <a:latin typeface="Microsoft YaHei"/>
              </a:rPr>
              <a:t>• （行业 65%）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CA02C"/>
                </a:solidFill>
                <a:latin typeface="Microsoft YaHei"/>
              </a:rPr>
              <a:t>• CAC 回收 8 个月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4. 商业模式 | NRR 140% 漏斗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49224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Microsoft YaHei"/>
              </a:rPr>
              <a:t>AFAC2026 · QuantInsight Pro</a:t>
            </a:r>
          </a:p>
        </p:txBody>
      </p:sp>
      <p:pic>
        <p:nvPicPr>
          <p:cNvPr id="5" name="Picture 4" descr="03_nrr_fu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11247120" cy="801730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5. 财务 | 5 年 30 → 620 客户路线图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49224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Microsoft YaHei"/>
              </a:rPr>
              <a:t>AFAC2026 · QuantInsight Pro</a:t>
            </a:r>
          </a:p>
        </p:txBody>
      </p:sp>
      <p:pic>
        <p:nvPicPr>
          <p:cNvPr id="5" name="Picture 4" descr="05_client_grow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11247120" cy="670573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6. 团队 | 4 创始 + 5 顾问 + 5 校 MOU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49224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Microsoft YaHei"/>
              </a:rPr>
              <a:t>AFAC2026 · QuantInsight Pro</a:t>
            </a:r>
          </a:p>
        </p:txBody>
      </p:sp>
      <p:pic>
        <p:nvPicPr>
          <p:cNvPr id="5" name="Picture 4" descr="07_team_stru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11247120" cy="696172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7. 风险预案 | 5 大风险 + 3 套应对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49224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Microsoft YaHei"/>
              </a:rPr>
              <a:t>AFAC2026 · QuantInsight 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1A1A1A"/>
                </a:solidFill>
                <a:latin typeface="Microsoft YaHei"/>
              </a:rPr>
              <a:t>• ① 监管风险：AI 投顾持牌 → 已与永字合规团队合作，SHAP 自动审计报告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A1A1A"/>
                </a:solidFill>
                <a:latin typeface="Microsoft YaHei"/>
              </a:rPr>
              <a:t>• ② 数据合规：另类数据来源 → 已签 5 家授权，使用前 100% 脱敏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A1A1A"/>
                </a:solidFill>
                <a:latin typeface="Microsoft YaHei"/>
              </a:rPr>
              <a:t>• ③ 技术风险：开源回测引擎被 fork → MIT License，专利 + 软著 + 持续创新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A1A1A"/>
                </a:solidFill>
                <a:latin typeface="Microsoft YaHei"/>
              </a:rPr>
              <a:t>• ④ 市场风险：竞品（Wind AI） → 差异化 SHAP + 中小私募长尾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A1A1A"/>
                </a:solidFill>
                <a:latin typeface="Microsoft YaHei"/>
              </a:rPr>
              <a:t>• ⑤ 团队风险：4 人创业稳定性 → 期权池 35% + 顾问委员会 5 位 + 5 校 MOU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Microsoft YaHei"/>
              </a:rPr>
              <a:t>愿景 |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12471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Microsoft YaHei"/>
              </a:rPr>
              <a:t>让 1.5 万家中小私募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112471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Microsoft YaHei"/>
              </a:rPr>
              <a:t>0 成本拥有 AI 投研能力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Microsoft YaHei"/>
              </a:rPr>
              <a:t>QuantInsight Pro 团队 · 冯亦根/王宇寒/官馨/梁理智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66928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Microsoft YaHei"/>
              </a:rPr>
              <a:t>2026.07.08 · 等待您的回音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