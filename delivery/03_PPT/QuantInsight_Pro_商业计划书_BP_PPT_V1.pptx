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 panose="020B0503020204020204" charset="-122"/>
              </a:rPr>
              <a:t>AFAC2026 金融智能创新大赛 · 初创组</a:t>
            </a:r>
            <a:endParaRPr sz="20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软雅黑" panose="020B0503020204020204" charset="-122"/>
              </a:rPr>
              <a:t>QuantInsight Pro</a:t>
            </a:r>
            <a:endParaRPr sz="5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微软雅黑" panose="020B0503020204020204" charset="-122"/>
              </a:rPr>
              <a:t>商业计划书（PPT 版）</a:t>
            </a:r>
            <a:endParaRPr sz="2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AI 驱动的另类数据量化投研平台 · SHAP 可解释性深度集成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项目编号 2026FINTECH-FINT-0093  |  Demo https://3blue1brownlab.cn
推荐单位：杭州永字资产管理有限公司  |  编制：慧点资本量化研究部</a:t>
            </a:r>
            <a:endParaRPr sz="1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2026 年 7 月  |  </a:t>
            </a:r>
            <a:r>
              <a:rPr lang="zh-CN" sz="1300" b="0">
                <a:solidFill>
                  <a:srgbClr val="FFFFFF"/>
                </a:solidFill>
                <a:latin typeface="微软雅黑" panose="020B0503020204020204" charset="-122"/>
              </a:rPr>
              <a:t>智融</a:t>
            </a:r>
            <a:r>
              <a:rPr lang="zh-CN" sz="1300" b="0">
                <a:solidFill>
                  <a:srgbClr val="FFFFFF"/>
                </a:solidFill>
                <a:latin typeface="微软雅黑" panose="020B0503020204020204" charset="-122"/>
              </a:rPr>
              <a:t>先锋</a:t>
            </a:r>
            <a:endParaRPr lang="zh-CN" sz="13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目录 | 商业计划书八章节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图文并茂 · 逻辑闭环 · 可编辑提交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01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执行摘要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一句话定位 + 关键里程碑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17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02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市场分析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25146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TAM/SAM/SOM + 竞争格局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03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产品与技术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8 模块 + SHAP + 11.4 年回测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17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04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商业模式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25146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9 宫格 + LTV/CAC + NRR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86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05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44805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团队介绍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98348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4 创始 + 永字战略合作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37560" y="365760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886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06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4720" y="44805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财务预测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74720" y="498348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5 年营收 + 融资路径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86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07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55080" y="44805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风险评估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498348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8 大风险 + 压力测试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98280" y="365760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886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7B4"/>
                </a:solidFill>
                <a:latin typeface="微软雅黑" panose="020B0503020204020204" charset="-122"/>
              </a:rPr>
              <a:t>08</a:t>
            </a:r>
            <a:endParaRPr sz="2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35440" y="44805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微软雅黑" panose="020B0503020204020204" charset="-122"/>
              </a:rPr>
              <a:t>落地案例</a:t>
            </a:r>
            <a:endParaRPr sz="18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35440" y="498348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永字资管 POC（≥1 案例）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01 执行摘要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让量化投资更智能，让另类数据更普惠，让 AI 决策可解释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23444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 panose="020B0503020204020204" charset="-122"/>
              </a:rPr>
              <a:t>QuantInsight Pro 面向专业机构投资者的资管科技平台：另类数据 + 开源大模型微调/RAG 智能体 + 开源回测引擎。核心差异化——业内首家将 SHAP 可解释性深度集成到 A 股智能选股，满足算法备案与客户沟通双重需求。</a:t>
            </a:r>
            <a:endParaRPr sz="15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09728" cy="1554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77B4"/>
                </a:solidFill>
                <a:latin typeface="微软雅黑" panose="020B0503020204020204" charset="-122"/>
              </a:rPr>
              <a:t>30→620</a:t>
            </a:r>
            <a:endParaRPr sz="24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微软雅黑" panose="020B0503020204020204" charset="-122"/>
              </a:rPr>
              <a:t>客户数（2026–2030）</a:t>
            </a:r>
            <a:endParaRPr sz="13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91840" y="251460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514600"/>
            <a:ext cx="109728" cy="1554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77B4"/>
                </a:solidFill>
                <a:latin typeface="微软雅黑" panose="020B0503020204020204" charset="-122"/>
              </a:rPr>
              <a:t>8.56%</a:t>
            </a:r>
            <a:endParaRPr sz="24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044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微软雅黑" panose="020B0503020204020204" charset="-122"/>
              </a:rPr>
              <a:t>HS300 多因子年化（T35）</a:t>
            </a:r>
            <a:endParaRPr sz="13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7920" y="251460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514600"/>
            <a:ext cx="109728" cy="1554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77B4"/>
                </a:solidFill>
                <a:latin typeface="微软雅黑" panose="020B0503020204020204" charset="-122"/>
              </a:rPr>
              <a:t>LTV/CAC 82.2</a:t>
            </a:r>
            <a:endParaRPr sz="24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微软雅黑" panose="020B0503020204020204" charset="-122"/>
              </a:rPr>
              <a:t>单位经济模型</a:t>
            </a:r>
            <a:endParaRPr sz="13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0" y="251460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514600"/>
            <a:ext cx="109728" cy="1554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9748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77B4"/>
                </a:solidFill>
                <a:latin typeface="微软雅黑" panose="020B0503020204020204" charset="-122"/>
              </a:rPr>
              <a:t>永字 POC</a:t>
            </a:r>
            <a:endParaRPr sz="24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72600" y="3383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微软雅黑" panose="020B0503020204020204" charset="-122"/>
              </a:rPr>
              <a:t>已签署战略合作</a:t>
            </a:r>
            <a:endParaRPr sz="13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目标客户：9 类机构（中小私募/理财子/券商资管等），长尾市场 1.5 万+ 家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融资路径：5 轮 4.35 亿（天使→Pre-IPO），基准 IRR 28%，60 月启动 IPO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产品形态：云原生 SaaS + 私有化 + 监管沙盒；Demo 已上线 https://3blue1brownlab.cn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02 市场分析 · 痛点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中国资管 200 万亿+，资管科技渗透率 &lt; 5%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29260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买不起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Wind+优矿+团队 ≈ 500万/年
中小私募难以承担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743200" cy="29260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1704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不会用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377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黑盒 AI 不可解释
监管与客户均不信任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2743200" cy="29260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704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没数据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377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舆情/资金流/政策散落
无人整合另类数据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0" y="1097280"/>
            <a:ext cx="2743200" cy="29260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097280"/>
            <a:ext cx="2743200" cy="5029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17043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落不了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6880" y="1828800"/>
            <a:ext cx="2377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回测与实盘脱节
业绩归因混乱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62728"/>
                </a:solidFill>
                <a:latin typeface="微软雅黑" panose="020B0503020204020204" charset="-122"/>
              </a:rPr>
              <a:t>现状：90% 中小私募靠 Excel + 人工研判，年化跑赢基准者不足 20%</a:t>
            </a:r>
            <a:endParaRPr sz="1600" b="1">
              <a:solidFill>
                <a:srgbClr val="D6272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结构性蓝海：5000+ 中小私募，客单价 50–200 万/年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AI 投研窗口：90% 机构无 AI 投研智能体，12–18 月技术窗口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可解释刚需：证监会算法备案推动 SHAP 等可解释 AI 需求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02 市场分析 · 市场规模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TAM / SAM / SOM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8_tam_sam_so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7498079" cy="4375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1887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机会判断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TAM：资管科技整体市场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SAM：中小私募长尾可服务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SOM：5 年可触达份额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渗透率 &lt; 5%，CAGR 30–40%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竞品忽视长尾定价带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  <a:latin typeface="微软雅黑" panose="020B0503020204020204" charset="-122"/>
              </a:rPr>
              <a:t>• SHAP 形成合规差异化</a:t>
            </a:r>
            <a:endParaRPr sz="14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02 市场分析 · 竞争格局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相对 Wind / 同花顺 / 恒生的差异化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11_competition_rad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6858000" cy="52285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188720"/>
          <a:ext cx="4846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2011680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对手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优势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我们的差异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Wind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品牌/数据全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AI+价格-50%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同花顺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双覆盖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中小私募+SHAP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恒生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基础设施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垂直场景灵活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QI Pro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AI+SHAP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长尾蓝海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03 产品与技术 · 解决方案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透明 · 可证 · 可负担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1_business_model_canv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60120"/>
            <a:ext cx="7589520" cy="5266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1887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三大核心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透明：SHAP 因子归因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可证：11.4 年真实回测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可负担：2.4 万起/年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8 大功能模块已上线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Demo 生产环境可访问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MIT 开源回测引擎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03 产品与技术 · 八大功能模块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Demo 真实可运行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1. 智能选股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17 因子 Top10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2. SHAP 解读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业内独家归因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3. AI 投研问答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RAG + 引用溯源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4. 量化回测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0" y="21945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5 策略 11.4 年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5. 智能盯盘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7×24 异动预警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1840" y="356616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023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6. 模拟交易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663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A 股实时模拟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7. 自动报告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Word/PDF 导出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4000" y="3566160"/>
            <a:ext cx="2743200" cy="210312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0233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8. 实时看板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26880" y="46634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北向资金热力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03 产品与技术 · 六层架构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应用 → 智能体 → 服务 → 数据 → 算法 → 基础设施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chart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7315200" cy="48524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1887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  <a:latin typeface="微软雅黑" panose="020B0503020204020204" charset="-122"/>
              </a:rPr>
              <a:t>技术壁垒</a:t>
            </a:r>
            <a:endParaRPr sz="18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>
                <a:solidFill>
                  <a:srgbClr val="2CA02C"/>
                </a:solidFill>
                <a:latin typeface="微软雅黑" panose="020B0503020204020204" charset="-122"/>
              </a:rPr>
              <a:t>• ① SHAP（业内独家）</a:t>
            </a:r>
            <a:endParaRPr sz="15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CA02C"/>
                </a:solidFill>
                <a:latin typeface="微软雅黑" panose="020B0503020204020204" charset="-122"/>
              </a:rPr>
              <a:t>• ② 11.4 年回测（最长）</a:t>
            </a:r>
            <a:endParaRPr sz="15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CA02C"/>
                </a:solidFill>
                <a:latin typeface="微软雅黑" panose="020B0503020204020204" charset="-122"/>
              </a:rPr>
              <a:t>• ③ 17 因子（最全）</a:t>
            </a:r>
            <a:endParaRPr sz="15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CA02C"/>
                </a:solidFill>
                <a:latin typeface="微软雅黑" panose="020B0503020204020204" charset="-122"/>
              </a:rPr>
              <a:t>• ④ 3 模态融合（最广）</a:t>
            </a:r>
            <a:endParaRPr sz="15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CA02C"/>
                </a:solidFill>
                <a:latin typeface="微软雅黑" panose="020B0503020204020204" charset="-122"/>
              </a:rPr>
              <a:t>• ⑤ MIT 开源（最透）</a:t>
            </a:r>
            <a:endParaRPr sz="1500">
              <a:solidFill>
                <a:srgbClr val="2CA02C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CA02C"/>
                </a:solidFill>
                <a:latin typeface="微软雅黑" panose="020B0503020204020204" charset="-122"/>
              </a:rPr>
              <a:t>• 21/21 单元测试 PASS</a:t>
            </a:r>
            <a:endParaRPr sz="1500">
              <a:solidFill>
                <a:srgbClr val="2CA02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03 产品与技术 · 11.4 年回测（T35 修正）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HS300 8.56% / ZZ500 24.48% / CYB 11.55%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4_backtest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60120"/>
            <a:ext cx="7315200" cy="4260724"/>
          </a:xfrm>
          <a:prstGeom prst="rect">
            <a:avLst/>
          </a:prstGeom>
        </p:spPr>
      </p:pic>
      <p:pic>
        <p:nvPicPr>
          <p:cNvPr id="7" name="Picture 6" descr="12_backtes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4297680" cy="19628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注：早期版本曾报告 19.22%，经 T35 开源引擎主动修正为 8.56%——不夸大也不掩饰。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04 商业模式 · 客群 × 订阅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4 客群 × 3 订阅 LTV 矩阵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6_customer_subscript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11430000" cy="75459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04 商业模式 · 单位经济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LTV/CAC = 82.2 · NRR = 140%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2_ltv_cac_rad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5943600" cy="4791659"/>
          </a:xfrm>
          <a:prstGeom prst="rect">
            <a:avLst/>
          </a:prstGeom>
        </p:spPr>
      </p:pic>
      <p:pic>
        <p:nvPicPr>
          <p:cNvPr id="7" name="Picture 6" descr="03_nrr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669280" cy="40412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04 商业模式 · 收入与定价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SaaS 订阅为主（2030 占比 70%）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收入来源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2030占比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单价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SaaS 订阅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70%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30–200万/年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定制开发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15%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100–500万/项目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数据 API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7%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按次计费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培训咨询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4%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5–20万/期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战略合作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4%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框架协议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0972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客户类型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总价(万/年)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典型模块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中小私募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50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选股+SHAP+回测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银行理财子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全模块+风控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券商资管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150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投研+合规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高校研究所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学术版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战略合作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框架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试点+生态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直销：2030 年销售 BD 80 人，覆盖银行/保险/公募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渠道：券商/银行/律所联盟 + 清华/北大/上财学术渠道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微软雅黑" panose="020B0503020204020204" charset="-122"/>
              </a:rPr>
              <a:t>• 客户成功：目标续约率 92%，NRR 120%+</a:t>
            </a:r>
            <a:endParaRPr sz="150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05 团队介绍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4 创始 + 推荐单位战略背书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7_team_stru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7315200" cy="452794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097280"/>
          <a:ext cx="4297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角色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姓名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CEO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冯亦根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CTO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王宇寒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产品/数据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官馨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AI/量化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梁理智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推荐单位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薛永再(非队员)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</a:rPr>
              <a:t>薛永再为杭州永字资管法定代表人 / 场外顾问，非参赛队员；战略合作已签署。</a:t>
            </a:r>
            <a:endParaRPr sz="12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06 财务预测 · 5 年营收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基准场景：营收 0.20 → 7.95 亿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9_revenue_prof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0"/>
            <a:ext cx="7498079" cy="4535691"/>
          </a:xfrm>
          <a:prstGeom prst="rect">
            <a:avLst/>
          </a:prstGeom>
        </p:spPr>
      </p:pic>
      <p:pic>
        <p:nvPicPr>
          <p:cNvPr id="7" name="Picture 6" descr="05_clien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05840"/>
            <a:ext cx="4206240" cy="2507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  <a:latin typeface="微软雅黑" panose="020B0503020204020204" charset="-122"/>
              </a:rPr>
              <a:t>2030 净利润 1.98 亿 · 净利率 25% · 5 年累计净利 2.94 亿</a:t>
            </a:r>
            <a:endParaRPr sz="1400" b="1">
              <a:solidFill>
                <a:srgbClr val="1F77B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06 财务预测 · 融资与资金用途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5 轮融资 4.35 亿 · 基准 IRR 28%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10_angel_use_of_fun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486400" cy="516261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097280"/>
          <a:ext cx="5852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轮次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时点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金额(万)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投后估值(万)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天使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6月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500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5,000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Pre-A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12月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3,000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30,000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A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24月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10,000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80,000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B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36月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30,000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200,000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Pre-IPO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54月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500,000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退出：60 月启动 IPO（科创板/北交所）· IPO 估值 40–50 亿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06 财务预测 · 客户拓展路线图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种子 → 成长 → 扩张 → 领先 → 龙头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13_milestone_road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47120" cy="4965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07 风险评估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8 大风险 + 压力测试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1612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风险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概率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影响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应对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AI 技术迭代滞后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20%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-15%营收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R&amp;D 15%营收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大客户流失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15%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-10%营收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客户成功2x+长约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监管收紧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30%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-8%营收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合规+监管沙盒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融资环境恶化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25%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-5pp IRR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18月现金跑道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核心团队流失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15%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-5%营收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期权池15%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竞品价格战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40%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-20%营收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SHAP差异化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数据源断供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10%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-25%营收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多源备份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宏观衰退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25%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-15%营收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9类客户分散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48640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压力测试（2030）：保守 IRR 15% / 基准 28% / 乐观 38%  ·  缓释：技术护城河 + 客户分散 + 合规先行 + 人才绑定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08 落地案例 · 永字资管战略合作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满足初创组「≥1 个落地客户/试点」要求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653796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 panose="020B0503020204020204" charset="-122"/>
              </a:rPr>
              <a:t>AFAC2026 · 商业计划书 PPT</a:t>
            </a:r>
            <a:endParaRPr sz="10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09728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 panose="020B0503020204020204" charset="-122"/>
              </a:rPr>
              <a:t>合作方：杭州永字资产管理有限公司（中基协备案私募）  |  法定代表人：薛永再（推荐单位 / 场外顾问）
状态：战略合作已签署  |  范围：AI 投研问答 + 量化回测 + SHAP 可解释选股</a:t>
            </a:r>
            <a:endParaRPr sz="14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377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模块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合作内容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验证结果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AI 投研问答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财报/公告自然语言解读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中文金融理解准确率 80%+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量化回测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HS300 多因子 11.4 年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年化 8.56%，夏普 0.63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SHAP 解读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17 因子决策归因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满足算法备案可解释性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智能选股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17 因子 Top10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rPr>
                        <a:t>投研效率提升 65%（内部测算）</a:t>
                      </a:r>
                      <a:endParaRPr sz="1100">
                        <a:solidFill>
                          <a:srgbClr val="1A1A1A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微软雅黑" panose="020B0503020204020204" charset="-122"/>
              </a:rPr>
              <a:t>杭州私募证券基金管理人 471 家，86% 管理规模 &lt; 10 亿 —— 精准服务长尾市场。</a:t>
            </a:r>
            <a:endParaRPr sz="13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微软雅黑" panose="020B0503020204020204" charset="-122"/>
              </a:rPr>
              <a:t>愿景 · Ask</a:t>
            </a:r>
            <a:endParaRPr sz="22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让 1.5 万家中小私募
0 成本拥有 AI 投研能力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 panose="020B0503020204020204" charset="-122"/>
              </a:rPr>
              <a:t>寻求：专家初筛入围 · 投融资对接 · 金融机构 POC 试点
团队：冯亦根 / 王宇寒 / 官馨 / 梁理智
Demo：https://3blue1brownlab.cn  |  2026.07</a:t>
            </a:r>
            <a:endParaRPr sz="16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3655</Words>
  <Application>WPS 演示</Application>
  <PresentationFormat>On-screen Show (4:3)</PresentationFormat>
  <Paragraphs>571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冯亦根</cp:lastModifiedBy>
  <cp:revision>2</cp:revision>
  <dcterms:created xsi:type="dcterms:W3CDTF">2013-01-27T09:14:00Z</dcterms:created>
  <dcterms:modified xsi:type="dcterms:W3CDTF">2026-07-09T06:00:51Z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348F51A2B218480FBA90355B5413A8C8_12</vt:lpwstr>
  </property>
</Properties>
</file>