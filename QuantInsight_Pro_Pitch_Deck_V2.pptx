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914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QuantInsight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</a:rPr>
              <a:t>AI 驱动的另类数据量化投研平台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— 资管科技 (AssetTech) 子公司视角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慧点资本 (InsightQuant) 量化研究部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推荐单位: 杭州永字资产管理有限公司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项目编号: 2026FINTECH-FINT-0093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FinTech@外滩金融科技大赛 · 资管科技赛道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23B72"/>
                </a:solidFill>
                <a:latin typeface="Microsoft YaHei"/>
                <a:ea typeface="Microsoft YaHei"/>
              </a:rP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一、项目概述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让量化投资更智能, 让另类数据更普惠, 让资管科技更本土化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项目定义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669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QuantInsight Pro 是慧点资本联合杭州永字资产管理有限公司打造的新一代资管科技 (AssetTech) 平台, 通过整合另类数据、自研 AI 投研智能体和量化策略引擎, 为 9 类机构投资者提供数据+模型+策略+合规的一站式智能投研解决方案。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项目主体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23360"/>
            <a:ext cx="5669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杭州永字资产管理有限公司资管科技子公司 (拟设立, 慧点资本 100% 控股)
推荐单位: 杭州永字资产管理有限公司
法定代表人: 薛永再 (创始团队 COO/合规)
监管: 中基协私募基金管理人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4 大核心价值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486400" cy="7772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  <a:latin typeface="Microsoft YaHei"/>
                <a:ea typeface="Microsoft YaHei"/>
              </a:rPr>
              <a:t>#1 技术壁垒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74519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自研 AI 投研智能体 (业内 90% 不具备)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51760"/>
            <a:ext cx="5486400" cy="7772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7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  <a:latin typeface="Microsoft YaHei"/>
                <a:ea typeface="Microsoft YaHei"/>
              </a:rPr>
              <a:t>#2 数据优势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7889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5 大数据源 (财报/公告/新闻/产业链/舆情)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66160"/>
            <a:ext cx="5486400" cy="7772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7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  <a:latin typeface="Microsoft YaHei"/>
                <a:ea typeface="Microsoft YaHei"/>
              </a:rPr>
              <a:t>#3 产品形态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7033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云原生 SaaS + 私有化 + 监管沙盒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480560"/>
            <a:ext cx="5486400" cy="7772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5262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  <a:latin typeface="Microsoft YaHei"/>
                <a:ea typeface="Microsoft YaHei"/>
              </a:rPr>
              <a:t>#4 本土化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6177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学术合作 (清华/北大/上财) + A 股合规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二、市场机会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中国资管 200 万亿+, 资管科技渗透率 &lt; 5%, 5 年 CAGR 30-40%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1371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200 万亿+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中国资管行业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657600" cy="1371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&lt; 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资管科技渗透率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657600" cy="1371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1.5 万+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9 类机构总数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9 类客户分群 × 1.5 万+ 机构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320040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282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客户类型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机构总数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目标客户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单价 (万)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5 年累计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策略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中小私募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直销+推荐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银行理财子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高层 BD+试点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券商资管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60+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战略联盟+共建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信托公司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行业会议+案例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保险资管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监管沙盒+试点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公募基金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150+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招投标+高层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高校研究所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学术合作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上市公司 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5,000+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路演+案例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战略合作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内部协同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23B72"/>
                          </a:solidFill>
                          <a:latin typeface="Microsoft YaHei"/>
                        </a:rPr>
                        <a:t>合计 / 加权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15,540+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795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79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795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差异化蓝海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三、产品方案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AI 投研智能体 + 5 大数据源 + 9 类客户全覆盖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另类数据中心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39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5 大数据源
• 传统金融数据
• 新闻舆情
• 产业链数据
• 消费行为
• 卫星/物流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743200" cy="5486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AI 投研引擎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39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核心壁垒
• 金融大模型 (DeepSeek/Qwen 微调)
• 知识图谱 (1000 万+ 实体)
• 因子挖掘 (自动 Alpha)
• 智能问答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量化策略平台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A4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39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5.4 年回测已验证
• 策略回测 (多周期)
• 策略生成 (AI 辅助)
• 风险模型 (VaR/CVaR)
• 绩效归因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280160"/>
            <a:ext cx="2743200" cy="5486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智能风控系统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8288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39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合规先行
• 实时预警 (毫秒级)
• 合规检查 (反洗钱)
• 仓位管理 (动态)
• 监管报送 (一键)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  <a:latin typeface="Microsoft YaHei"/>
                <a:ea typeface="Microsoft YaHei"/>
              </a:rPr>
              <a:t>5 大技术亮点 (vs 业内基准)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80"/>
            <a:ext cx="2194560" cy="137160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89120"/>
            <a:ext cx="2103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AI 大模型: 业内 90% 机构不具备 → 12-18 月领先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297680"/>
            <a:ext cx="2194560" cy="137160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79" y="4389120"/>
            <a:ext cx="2103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另类数据: 5 类融合 (Wind 仅 1-2 类) → 5x 数据广度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4297680"/>
            <a:ext cx="2194560" cy="137160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389120"/>
            <a:ext cx="2103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知识图谱: 动态更新 (千万实体) → 实时性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4297680"/>
            <a:ext cx="2194560" cy="137160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4389120"/>
            <a:ext cx="2103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强化学习: 自适应策略 → 普惠化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4297680"/>
            <a:ext cx="2194560" cy="137160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4389120"/>
            <a:ext cx="2103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合规引擎: 监管沙盒 → 本土合规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四、技术架构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云原生 + AI 智能体编排 + 零信任安全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371600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应用层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371600"/>
            <a:ext cx="10058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投研终端 | 移动 App | API 接口 | 数据可视化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371600" cy="82296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智能体层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377440"/>
            <a:ext cx="10058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投研助手 | 因子挖掘 | 智能问答 | 自动报告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13716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服务层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383280"/>
            <a:ext cx="10058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AI 引擎 | 策略引擎 | 风控引擎 | 数据服务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1371600" cy="82296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617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4389120"/>
            <a:ext cx="10058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5A4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61772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5 大数据源 + 知识图谱 + 自研因子库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12080"/>
            <a:ext cx="1371600" cy="8229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440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基础设施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5212080"/>
            <a:ext cx="10058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云原生 | 弹性算力 | 实时数据流 | 零信任安全 | 99.9% 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核心技术指标: 数据 10TB/日 | 响应 &lt; 100ms | 可用性 99.9% | 回测 30s/5.4y | 并发 1000+ | API 100 万次/日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五、技术亮点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vs Wind/同花顺/恒生/通联 4 大业内基准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QuantInsight Pro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Wind (万得)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同花顺 iFinD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恒生电子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通联数据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23B72"/>
                          </a:solidFill>
                          <a:latin typeface="Microsoft YaHei"/>
                        </a:rPr>
                        <a:t>AI 投研智能体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12-18 月领先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23B72"/>
                          </a:solidFill>
                          <a:latin typeface="Microsoft YaHei"/>
                        </a:rPr>
                        <a:t>5 类另类数据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✓ (5 类)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1-2 类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1-2 类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1 类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5x 广度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知识图谱 (动态)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✓ (千万实体)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静态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静态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实时性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强化学习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普惠化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AI 因子挖掘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✓ (自动)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半自动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Alpha 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23B72"/>
                          </a:solidFill>
                          <a:latin typeface="Microsoft YaHei"/>
                        </a:rPr>
                        <a:t>监管沙盒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✓ (试点)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本土合规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23B72"/>
                          </a:solidFill>
                          <a:latin typeface="Microsoft YaHei"/>
                        </a:rPr>
                        <a:t>中小私募聚焦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✓ (5000+)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23B72"/>
                          </a:solidFill>
                          <a:latin typeface="Microsoft YaHei"/>
                        </a:rPr>
                        <a:t>差异化蓝海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学术合作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✓ (5 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信任壁垒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综合评价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全维度领先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数据全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散户强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金融强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学术强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六、商业模式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5 类收入 × 9 类客户 × 订阅主导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5 类收入结构 (2030)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48640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8"/>
                </a:solidFill>
                <a:latin typeface="Microsoft YaHei"/>
                <a:ea typeface="Microsoft YaHei"/>
              </a:rPr>
              <a:t>SaaS 订阅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23B72"/>
                </a:solidFill>
                <a:latin typeface="Microsoft YaHei"/>
                <a:ea typeface="Microsoft YaHei"/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55,800 万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48640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7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8"/>
                </a:solidFill>
                <a:latin typeface="Microsoft YaHei"/>
                <a:ea typeface="Microsoft YaHei"/>
              </a:rPr>
              <a:t>定制开发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7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23B72"/>
                </a:solidFill>
                <a:latin typeface="Microsoft YaHei"/>
                <a:ea typeface="Microsoft YaHei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79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12,000 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48640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8"/>
                </a:solidFill>
                <a:latin typeface="Microsoft YaHei"/>
                <a:ea typeface="Microsoft YaHei"/>
              </a:rPr>
              <a:t>数据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089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23B72"/>
                </a:solidFill>
                <a:latin typeface="Microsoft YaHei"/>
                <a:ea typeface="Microsoft YaHei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08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5,500 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79"/>
            <a:ext cx="548640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8"/>
                </a:solidFill>
                <a:latin typeface="Microsoft YaHei"/>
                <a:ea typeface="Microsoft YaHei"/>
              </a:rPr>
              <a:t>投研培训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4903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23B72"/>
                </a:solidFill>
                <a:latin typeface="Microsoft YaHei"/>
                <a:ea typeface="Microsoft YaHei"/>
              </a:rPr>
              <a:t>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749039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3,200 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548640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8"/>
                </a:solidFill>
                <a:latin typeface="Microsoft YaHei"/>
                <a:ea typeface="Microsoft YaHei"/>
              </a:rPr>
              <a:t>战略合作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89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23B72"/>
                </a:solidFill>
                <a:latin typeface="Microsoft YaHei"/>
                <a:ea typeface="Microsoft YaHei"/>
              </a:rPr>
              <a:t>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389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3,000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9 类客户定价 (年付)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9164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7830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中小私募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7830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50 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69164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7830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银行理财子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17830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200 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1945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2860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券商资管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286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150 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1945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2860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信托公司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2286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100 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69748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27889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保险资管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7889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300 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69748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7889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公募基金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27889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500 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20040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918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高校研究所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291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20 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320040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2918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上市公司 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3291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30 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70332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7947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战略合作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100 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70332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37947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加权 ARPU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79 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  <a:latin typeface="Microsoft YaHei"/>
                <a:ea typeface="Microsoft YaHei"/>
              </a:rPr>
              <a:t>4 大销售策略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669280"/>
            <a:ext cx="27432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760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8"/>
                </a:solidFill>
                <a:latin typeface="Microsoft YaHei"/>
                <a:ea typeface="Microsoft YaHei"/>
              </a:rPr>
              <a:t>直销 80 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989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银行/保险/公募/大型私募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5669280"/>
            <a:ext cx="27432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83280" y="5760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8"/>
                </a:solidFill>
                <a:latin typeface="Microsoft YaHei"/>
                <a:ea typeface="Microsoft YaHei"/>
              </a:rPr>
              <a:t>渠道联盟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5989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券商/银行/律所/咨询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5669280"/>
            <a:ext cx="27432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5760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8"/>
                </a:solidFill>
                <a:latin typeface="Microsoft YaHei"/>
                <a:ea typeface="Microsoft YaHei"/>
              </a:rPr>
              <a:t>学术渠道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989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清华/北大/上财实验室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5669280"/>
            <a:ext cx="27432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5440" y="5760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8"/>
                </a:solidFill>
                <a:latin typeface="Microsoft YaHei"/>
                <a:ea typeface="Microsoft YaHei"/>
              </a:rPr>
              <a:t>内容营销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5989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行业报告/白皮书/技术博客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七、团队介绍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4 创始真名 + 280 团队 (2030) + 5 所高校合作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4 位创始团队 (真实身份)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7432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冯亦根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慧点资本创始人
10+ 年金融科技投资
CFA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645920"/>
            <a:ext cx="2743200" cy="5486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薛永再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COO/合规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杭州永字资管法人
15+ 年资管行业
推荐单位代表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7432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黄成选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65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8600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慧点资本量化负责人
AI 算法专家
5+ 年量化研究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4592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A4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645920"/>
            <a:ext cx="2743200" cy="5486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冯思涵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65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数据/产品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28600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慧点资本数据科学家
金融工程硕士
3+ 年另类数据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14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  <a:latin typeface="Microsoft YaHei"/>
                <a:ea typeface="Microsoft YaHei"/>
              </a:rPr>
              <a:t>团队扩张规划 (2026-2030)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457200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2286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部门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2026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2027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2028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2029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2030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研发 (AI+平台)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销售+BD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客户成功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数据 (采编+ETL)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市场+品牌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A23B72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23B72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23B72"/>
                          </a:solidFill>
                          <a:latin typeface="Microsoft YaHei"/>
                        </a:rPr>
                        <a:t>54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23B72"/>
                          </a:solidFill>
                          <a:latin typeface="Microsoft YaHei"/>
                        </a:rPr>
                        <a:t>113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23B72"/>
                          </a:solidFill>
                          <a:latin typeface="Microsoft YaHei"/>
                        </a:rPr>
                        <a:t>197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23B72"/>
                          </a:solidFill>
                          <a:latin typeface="Microsoft YaHei"/>
                        </a:rPr>
                        <a:t>280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412480" y="41148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  <a:latin typeface="Microsoft YaHei"/>
                <a:ea typeface="Microsoft YaHei"/>
              </a:rPr>
              <a:t>学术合作 (5 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572000"/>
            <a:ext cx="3474720" cy="347472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6177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✓ 清华五道口金融学院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956048"/>
            <a:ext cx="3474720" cy="347472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500176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✓ 上财金融科技研究院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5340096"/>
            <a:ext cx="3474720" cy="347472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5385816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✓ 北大数字金融研究中心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5724144"/>
            <a:ext cx="3474720" cy="347472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576986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✓ 复旦经济学院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6108192"/>
            <a:ext cx="3474720" cy="347472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61539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✓ 交大/浙大 (校招)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八、5 年里程碑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12/24/36/48/60 月 6 节点 + 5 轮融资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8288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8288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</a:rPr>
              <a:t>MVP+5 客户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团队: 26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23B72"/>
                </a:solidFill>
                <a:latin typeface="Microsoft YaHei"/>
                <a:ea typeface="Microsoft YaHei"/>
              </a:rPr>
              <a:t>估值: 5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86AB"/>
                </a:solidFill>
                <a:latin typeface="Microsoft YaHei"/>
                <a:ea typeface="Microsoft YaHei"/>
              </a:rPr>
              <a:t>融资: 天使 500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7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关键: 立项+团队组建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280160"/>
            <a:ext cx="18288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4173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828800"/>
            <a:ext cx="18288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</a:rPr>
              <a:t>产品 2.0+30 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46888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团队: 40 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834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23B72"/>
                </a:solidFill>
                <a:latin typeface="Microsoft YaHei"/>
                <a:ea typeface="Microsoft YaHei"/>
              </a:rPr>
              <a:t>估值: 3 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108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86AB"/>
                </a:solidFill>
                <a:latin typeface="Microsoft YaHei"/>
                <a:ea typeface="Microsoft YaHei"/>
              </a:rPr>
              <a:t>融资: Pre-A 3000 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8327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关键: A 轮准备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280160"/>
            <a:ext cx="1828800" cy="5486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4173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828800"/>
            <a:ext cx="18288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</a:rPr>
              <a:t>100 客户+销售成型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46888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团队: 80 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834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23B72"/>
                </a:solidFill>
                <a:latin typeface="Microsoft YaHei"/>
                <a:ea typeface="Microsoft YaHei"/>
              </a:rPr>
              <a:t>估值: 8 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108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86AB"/>
                </a:solidFill>
                <a:latin typeface="Microsoft YaHei"/>
                <a:ea typeface="Microsoft YaHei"/>
              </a:rPr>
              <a:t>融资: A 轮 1 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38327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关键: 客户成功团队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280160"/>
            <a:ext cx="18288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4173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828800"/>
            <a:ext cx="18288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</a:rPr>
              <a:t>200 客户+Top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6888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团队: 130 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2834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23B72"/>
                </a:solidFill>
                <a:latin typeface="Microsoft YaHei"/>
                <a:ea typeface="Microsoft YaHei"/>
              </a:rPr>
              <a:t>估值: 20 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79" y="3108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86AB"/>
                </a:solidFill>
                <a:latin typeface="Microsoft YaHei"/>
                <a:ea typeface="Microsoft YaHei"/>
              </a:rPr>
              <a:t>融资: B 轮 3 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338327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关键: 海外 5 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280160"/>
            <a:ext cx="18288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173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M48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828800"/>
            <a:ext cx="18288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</a:rPr>
              <a:t>400 客户+壁垒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46888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团队: 200 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834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23B72"/>
                </a:solidFill>
                <a:latin typeface="Microsoft YaHei"/>
                <a:ea typeface="Microsoft YaHei"/>
              </a:rPr>
              <a:t>估值: 35 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108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86AB"/>
                </a:solidFill>
                <a:latin typeface="Microsoft YaHei"/>
                <a:ea typeface="Microsoft YaHei"/>
              </a:rPr>
              <a:t>融资: Pre-IPO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38327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关键: 专精特新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1280160"/>
            <a:ext cx="1828800" cy="5486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60" y="14173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95560" y="1828800"/>
            <a:ext cx="1828800" cy="64008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9556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</a:rPr>
              <a:t>620 客户+龙头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95560" y="246888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8700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团队: 280 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2834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23B72"/>
                </a:solidFill>
                <a:latin typeface="Microsoft YaHei"/>
                <a:ea typeface="Microsoft YaHei"/>
              </a:rPr>
              <a:t>估值: 40-50 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3108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86AB"/>
                </a:solidFill>
                <a:latin typeface="Microsoft YaHei"/>
                <a:ea typeface="Microsoft YaHei"/>
              </a:rPr>
              <a:t>融资: 拟 IPO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87000" y="3383279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关键: 启动 IPO 申报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  <a:latin typeface="Microsoft YaHei"/>
                <a:ea typeface="Microsoft YaHei"/>
              </a:rPr>
              <a:t>董事会月报 10 大 KPI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440680"/>
            <a:ext cx="11430000" cy="548640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MRR/ARR · NRR&gt;110% · CAC 回收&lt;12月 · CSAT&gt;4.5 · NPS&gt;50 · 模型 Sharpe&gt;1.0 · eNPS&gt;40 · 2027Q4 现金跑正 · 年度合规审计 · 数据安全 0 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九、财务预测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5 年营收 CAGR 147%, 净利率稳态 25%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2026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2027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2028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2029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2030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5年合计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客户数 (家)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ARPU (万/家)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79 加权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23B72"/>
                          </a:solidFill>
                          <a:latin typeface="Microsoft YaHei"/>
                        </a:rPr>
                        <a:t>营业总收入 (万)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2,000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7,300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20,100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42,960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79,500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151,860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同比增长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CAGR 147%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毛利润 (万)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4,250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62,000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113,720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75% 稳态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23B72"/>
                          </a:solidFill>
                          <a:latin typeface="Microsoft YaHei"/>
                        </a:rPr>
                        <a:t>净利润 (万)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-1,840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-800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2,925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9,310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19,800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29,395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净利率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-92%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-11%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22% 加权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团队 (人)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LTV/CAC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&gt;&gt;&gt; 3 金标准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  <a:latin typeface="Microsoft YaHei"/>
                <a:ea typeface="Microsoft YaHei"/>
              </a:rPr>
              <a:t>现金流跑正路径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035040"/>
            <a:ext cx="2194560" cy="457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080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2026 启动: 天使+Pre-A 资金支撑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79" y="6035040"/>
            <a:ext cx="219456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6080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2027 Q4: OCF 跑正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6035040"/>
            <a:ext cx="2194560" cy="45720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6080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2028 转盈: 净利 +2925 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19" y="6035040"/>
            <a:ext cx="2194560" cy="45720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19" y="6080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2029 加速: 净利 +9310 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6035040"/>
            <a:ext cx="2194560" cy="4572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6080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2030 成熟: 净利 +1.98 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十、5 场景敏感性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熊/保守/基/乐/牛 5 场景, IRR 5%-45%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客户数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营收 (亿)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净利率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净利润 (亿)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估值 (亿)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IRR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极端熊市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保守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23B72"/>
                          </a:solidFill>
                          <a:latin typeface="Microsoft YaHei"/>
                        </a:rPr>
                        <a:t>基准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620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7.95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1.98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28%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乐观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极端牛市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4.19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23B72"/>
                          </a:solidFill>
                          <a:latin typeface="Microsoft YaHei"/>
                        </a:rPr>
                        <a:t>概率加权期望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39.9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27%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  <a:latin typeface="Microsoft YaHei"/>
                <a:ea typeface="Microsoft YaHei"/>
              </a:rPr>
              <a:t>关键假设与概率分布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663440"/>
            <a:ext cx="557784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4E78"/>
                </a:solidFill>
                <a:latin typeface="Microsoft YaHei"/>
                <a:ea typeface="Microsoft YaHei"/>
              </a:rPr>
              <a:t>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00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客户 CAGR 113%, ARPU 12%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4663440"/>
            <a:ext cx="557784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800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4E78"/>
                </a:solidFill>
                <a:latin typeface="Microsoft YaHei"/>
                <a:ea typeface="Microsoft YaHei"/>
              </a:rPr>
              <a:t>极端熊市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800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客户获取 -50%, 单价 -20%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303520"/>
            <a:ext cx="557784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4406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4E78"/>
                </a:solidFill>
                <a:latin typeface="Microsoft YaHei"/>
                <a:ea typeface="Microsoft YaHei"/>
              </a:rPr>
              <a:t>极端牛市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44068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大客户中标 +30%, 单价 +20%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303520"/>
            <a:ext cx="5577840" cy="548640"/>
          </a:xfrm>
          <a:prstGeom prst="rect">
            <a:avLst/>
          </a:prstGeom>
          <a:solidFill>
            <a:srgbClr val="D6E9F8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4406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4E78"/>
                </a:solidFill>
                <a:latin typeface="Microsoft YaHei"/>
                <a:ea typeface="Microsoft YaHei"/>
              </a:rPr>
              <a:t>概率分布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44068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基准 50% + 乐观 25% + 保守 20% + 极端 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期望 IRR = 27% | 期望估值 = 39.9 亿 | 极重压力下 IRR 仍 3% (不亏损)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十一、融资与估值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5 轮 4.35 亿, 估值 5 亿→40 亿, 3 估值方法三角验证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94560" cy="457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天使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1945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时点: 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8"/>
                </a:solidFill>
                <a:latin typeface="Microsoft YaHei"/>
                <a:ea typeface="Microsoft YaHei"/>
              </a:rPr>
              <a:t>金额: 500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估值: 5 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稀释: 10% · 25x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慧点资本+推荐单位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280160"/>
            <a:ext cx="2194560" cy="457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Pre-A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1737360"/>
            <a:ext cx="21945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时点: 12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103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8"/>
                </a:solidFill>
                <a:latin typeface="Microsoft YaHei"/>
                <a:ea typeface="Microsoft YaHei"/>
              </a:rPr>
              <a:t>金额: 3,000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3774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估值: 3 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51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稀释: 10% · 20x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92608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一线 VC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280160"/>
            <a:ext cx="2194560" cy="45720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737360"/>
            <a:ext cx="21945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时点: 24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103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8"/>
                </a:solidFill>
                <a:latin typeface="Microsoft YaHei"/>
                <a:ea typeface="Microsoft YaHei"/>
              </a:rPr>
              <a:t>金额: 1 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3774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估值: 8 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651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稀释: 12.5% · 11x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92608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一线 VC+产业资本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19" y="1280160"/>
            <a:ext cx="2194560" cy="457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19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19" y="1737360"/>
            <a:ext cx="21945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59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时点: 36 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59" y="2103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8"/>
                </a:solidFill>
                <a:latin typeface="Microsoft YaHei"/>
                <a:ea typeface="Microsoft YaHei"/>
              </a:rPr>
              <a:t>金额: 3 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59" y="23774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估值: 20 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59" y="2651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稀释: 15% · 10x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59" y="292608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顶级 PE+战投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1280160"/>
            <a:ext cx="2194560" cy="45720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Pre-IPO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1737360"/>
            <a:ext cx="21945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时点: 54 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103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8"/>
                </a:solidFill>
                <a:latin typeface="Microsoft YaHei"/>
                <a:ea typeface="Microsoft YaHei"/>
              </a:rPr>
              <a:t>金额: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23774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估值: 50 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651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稀释: 0% · 8x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92608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二级市场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  <a:latin typeface="Microsoft YaHei"/>
                <a:ea typeface="Microsoft YaHei"/>
              </a:rPr>
              <a:t>估值三角验证 (40 亿, 2030)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65760" y="42062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范围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依据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DCF 估值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35-40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WACC 12%, 永续增长 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可比 P/S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12-15x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Wind/同花顺/恒生 行业 2026 中位数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可比 P/E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45-60 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成熟期 30x (假设 2030 净利 2 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风险溢价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+5-8%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资管科技 β 1.3 (相对沪深 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23B72"/>
                          </a:solidFill>
                          <a:latin typeface="Microsoft YaHei"/>
                        </a:rPr>
                        <a:t>综合估值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30-50 亿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23B72"/>
                          </a:solidFill>
                          <a:latin typeface="Microsoft YaHei"/>
                        </a:rPr>
                        <a:t>40 亿为基准 (2030 末)</a:t>
                      </a:r>
                    </a:p>
                  </a:txBody>
                  <a:tcPr>
                    <a:solidFill>
                      <a:srgbClr val="D6E9F8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十二、风险与应对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8 大风险 + 4 级压力测试, 极重压力下 IRR 仍 3%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风险类型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概率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营收影响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IRR 影响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应对措施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责任人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AI 技术迭代滞后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-8pp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持续 R&amp;D 15% + DeepSeek/Qwen 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黄成选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大客户流失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-5pp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客户成功 2x + 3 年长约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冯思涵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监管收紧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-3pp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法务+合规双保险 + 行业协会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黄成选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融资环境恶化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-5pp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18 月现金跑道 + 多元融资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薛永再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核心团队流失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-4pp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期权池 15% + 4 年 vesting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冯亦根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竞品价格战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-6pp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差异化 + 成本领先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冯亦根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数据源断供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-12pp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多源备份 + 自建爬虫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黄成选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icrosoft YaHei"/>
                        </a:rPr>
                        <a:t>宏观经济衰退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-7pp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9 类客户分散 + 抗周期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icrosoft YaHei"/>
                        </a:rPr>
                        <a:t>冯亦根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8"/>
                </a:solidFill>
                <a:latin typeface="Microsoft YaHei"/>
                <a:ea typeface="Microsoft YaHei"/>
              </a:rPr>
              <a:t>4 级压力测试 (2030 关键指标)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120640"/>
            <a:ext cx="914400" cy="2743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16635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轻度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66359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客户 590 · 净利 1.6 亿 · 估值 32 亿 · IRR 23%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13248"/>
            <a:ext cx="91440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45896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中度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5896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客户 530 · 净利 1.2 亿 · 估值 24 亿 · IRR 17%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705855"/>
            <a:ext cx="914400" cy="27432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751575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重度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51575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客户 450 · 净利 0.8 亿 · 估值 16 亿 · IRR 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998464"/>
            <a:ext cx="914400" cy="2743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044183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极重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44183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客户 350 · 净利 0.3 亿 · 估值 9 亿 · IRR 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十三、退出路径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60 月拟 IPO, 4 路径设计 (科创/北交/战投/港股)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8288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19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A: 科创板 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280160"/>
            <a:ext cx="9601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60 月启动申报 · 66 月上市
门槛: 市值≥30 亿, 营收≥5 亿, 净利≥1 亿
主题: 金融科技 (上海/北京/深圳 试点)
适配性: ★★★★★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182880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926079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B: 北交所 IPO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560320"/>
            <a:ext cx="9601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54 月启动申报 · 60 月上市
门槛: 市值≥10 亿, 营收≥2 亿
主题: 专精特新, 中小机构友好
适配性: ★★★★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79"/>
            <a:ext cx="1828800" cy="109728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C: 战投并购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840479"/>
            <a:ext cx="9601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931919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48 月可启动 (兜底)
买方: 头部券商/互联网巨头/资管科技
估值: 8-10x P/S = 30-40 亿
适配性: ★★★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20640"/>
            <a:ext cx="1828800" cy="109728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4864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D: 港股 IPO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5120640"/>
            <a:ext cx="9601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5A4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5212079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60 月可启动 (海外)
服务: 海外中资机构 + 一带一路
适配性: 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主路径: A (科创板 IPO) 适配性最高, 60 月启动 · 66 月上市 · 估值 40-50 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十四、5 大核心竞争优势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  <a:ea typeface="Microsoft YaHei"/>
              </a:rPr>
              <a:t>差异化蓝海 + AI 投研智能体 + 学术背书 + 合规先行 + 团队真实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94560" cy="457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#1 差异化蓝海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11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中小私募 5000+ 家
被 Wind/同花顺 忽视
客单价 30-80 万
✓ 5 年累计 500 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79" y="1280160"/>
            <a:ext cx="2194560" cy="45720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#2 AI 投研智能体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737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828800"/>
            <a:ext cx="2011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业内 90% 不具备
12-18 月技术窗口
DeepSeek/Qwen 微调
✓ 自动因子挖掘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80160"/>
            <a:ext cx="219456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#3 学术合作背书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737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2011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清华/北大/上财/复旦/交大
监管沙盒试点
学术顾问 5+ 位
✓ 信任壁垒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19" y="1280160"/>
            <a:ext cx="2194560" cy="45720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#4 合规先行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19" y="1737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4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828800"/>
            <a:ext cx="2011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数据/金融/AI 三重合规
法务+合规双保险
推荐单位借调 6 月
✓ 本土合规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280160"/>
            <a:ext cx="2194560" cy="4572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#5 团队真实可查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737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828800"/>
            <a:ext cx="2011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4 创始慧点资本实际团队
推荐单位法定代表人
资管行业 15 年资源
✓ 无失实描述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icrosoft YaHei"/>
                <a:ea typeface="Microsoft YaHei"/>
              </a:rPr>
              <a:t>评委核心关注响应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2286000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盈利能力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60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净利率 25% 行业 Top 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160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✓ 强于恒生/通联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26280"/>
            <a:ext cx="2286000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5720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增长持续性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5720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5 年 CAGR 147%, 9 类客户分群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572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✓ 多行业抗周期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37760"/>
            <a:ext cx="2286000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现金流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9834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2027 Q4 OCF 跑正, 不依赖持续融资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983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✓ 财务健康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49240"/>
            <a:ext cx="2286000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394959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估值合理性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394959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40 亿 5x P/S, DCF/可比/风险溢价三角验证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39495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✓ 多方法交叉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760720"/>
            <a:ext cx="2286000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806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退出路径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8064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60 月拟 IPO (科创板/北交所)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806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23B72"/>
                </a:solidFill>
                <a:latin typeface="Microsoft YaHei"/>
                <a:ea typeface="Microsoft YaHei"/>
              </a:rPr>
              <a:t>✓ 明确时间表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  <a:ea typeface="Microsoft YaHei"/>
              </a:rPr>
              <a:t>QuantInsight Pro · 慧点资本 · 杭州永字资管 · 2026FINTECH-FINT-0093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914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十五、总结与愿景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让量化投资更智能, 让另类数据更普惠, 让资管科技更本土化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173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23B72"/>
                </a:solidFill>
                <a:latin typeface="Microsoft YaHei"/>
                <a:ea typeface="Microsoft YaHei"/>
              </a:rPr>
              <a:t>620 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8"/>
                </a:solidFill>
                <a:latin typeface="Microsoft YaHei"/>
                <a:ea typeface="Microsoft YaHei"/>
              </a:rPr>
              <a:t>客户 (2030)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926080"/>
            <a:ext cx="173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3063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23B72"/>
                </a:solidFill>
                <a:latin typeface="Microsoft YaHei"/>
                <a:ea typeface="Microsoft YaHei"/>
              </a:rPr>
              <a:t>7.95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4747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8"/>
                </a:solidFill>
                <a:latin typeface="Microsoft YaHei"/>
                <a:ea typeface="Microsoft YaHei"/>
              </a:rPr>
              <a:t>营收 (2030)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926080"/>
            <a:ext cx="173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3063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23B72"/>
                </a:solidFill>
                <a:latin typeface="Microsoft YaHei"/>
                <a:ea typeface="Microsoft YaHei"/>
              </a:rPr>
              <a:t>1.98 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4747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8"/>
                </a:solidFill>
                <a:latin typeface="Microsoft YaHei"/>
                <a:ea typeface="Microsoft YaHei"/>
              </a:rPr>
              <a:t>净利润 (2030)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2926080"/>
            <a:ext cx="173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3063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23B72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4747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8"/>
                </a:solidFill>
                <a:latin typeface="Microsoft YaHei"/>
                <a:ea typeface="Microsoft YaHei"/>
              </a:rPr>
              <a:t>净利率 (稳态)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926080"/>
            <a:ext cx="173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063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23B72"/>
                </a:solidFill>
                <a:latin typeface="Microsoft YaHei"/>
                <a:ea typeface="Microsoft YaHei"/>
              </a:rPr>
              <a:t>40 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4747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8"/>
                </a:solidFill>
                <a:latin typeface="Microsoft YaHei"/>
                <a:ea typeface="Microsoft YaHei"/>
              </a:rPr>
              <a:t>估值 (2030)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2926080"/>
            <a:ext cx="173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063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23B72"/>
                </a:solidFill>
                <a:latin typeface="Microsoft YaHei"/>
                <a:ea typeface="Microsoft YaHei"/>
              </a:rPr>
              <a:t>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4747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8"/>
                </a:solidFill>
                <a:latin typeface="Microsoft YaHei"/>
                <a:ea typeface="Microsoft YaHei"/>
              </a:rPr>
              <a:t>IRR (5 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完整提交包 (16+ 交付物)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BP V2.0 (14 页 PDF)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572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财务模型 V3 (13 工作表)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技术白皮书 (19 页 PDF)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572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3 分钟 Demo 视频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37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3 条技术短视频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937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8 分钟路演视频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37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Demo 原型 (Streamlit)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937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客户证据包 (6 文件)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T13 财务图表 (V3)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5303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行业研究 (T01)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303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T11 验收报告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303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✓ T12-T16 验收报告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慧点资本 (InsightQuant) 量化研究部  |  杭州永字资产管理有限公司 (推荐单位)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项目编号: 2026FINTECH-FINT-0093  |  FinTech@外滩金融科技大赛 · 资管科技赛道  |  2026 年 6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